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课题汇报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009650"/>
            <a:ext cx="8572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31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华锐 SL1500 型双馈式风机齿轮箱</a:t>
            </a:r>
            <a:endParaRPr sz="31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581150"/>
            <a:ext cx="9144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36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智能健康管理系统设计与实现</a:t>
            </a:r>
            <a:endParaRPr sz="36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23812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8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8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3381375"/>
            <a:ext cx="3409950" cy="1285875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3552825"/>
            <a:ext cx="3105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多源监测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895725"/>
            <a:ext cx="3105150" cy="676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SCADA / CMS / 油液 / 故障记录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38600" y="4005263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171950" y="3381375"/>
            <a:ext cx="3409950" cy="1285875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324350" y="3552825"/>
            <a:ext cx="3105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智能诊断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324350" y="3895725"/>
            <a:ext cx="3105150" cy="676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阈值告警、健康评分、RUL、故障闭环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20000" y="4005263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753350" y="3381375"/>
            <a:ext cx="3409950" cy="1285875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905750" y="3552825"/>
            <a:ext cx="3105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运维决策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05750" y="3895725"/>
            <a:ext cx="3105150" cy="676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报告生成、人机交互、大模型助手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71500" y="5486400"/>
            <a:ext cx="609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学生：XXX    指导教师：XXX    专业：XXX</a:t>
            </a:r>
            <a:endParaRPr sz="13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背景与意义</a:t>
            </a:r>
            <a:endParaRPr sz="12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66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研究背景：齿轮箱是风机运维中的高价值风险部件</a:t>
            </a:r>
            <a:endParaRPr sz="25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1581150"/>
            <a:ext cx="2476500" cy="9144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173355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研究对象</a:t>
            </a:r>
            <a:endParaRPr sz="120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1981200"/>
            <a:ext cx="1657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25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SL1500</a:t>
            </a:r>
            <a:endParaRPr sz="225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62200" y="209550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双馈风机</a:t>
            </a:r>
            <a:endParaRPr sz="12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67100" y="1581150"/>
            <a:ext cx="2476500" cy="9144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638550" y="173355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核心部件</a:t>
            </a:r>
            <a:endParaRPr sz="120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38550" y="1981200"/>
            <a:ext cx="1657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25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齿轮箱</a:t>
            </a:r>
            <a:endParaRPr sz="2250" b="1">
              <a:solidFill>
                <a:srgbClr val="34D3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19700" y="209550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传动系统</a:t>
            </a:r>
            <a:endParaRPr sz="12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24600" y="1581150"/>
            <a:ext cx="2476500" cy="9144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96050" y="173355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主要目标</a:t>
            </a:r>
            <a:endParaRPr sz="120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96050" y="1981200"/>
            <a:ext cx="1657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2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预警</a:t>
            </a:r>
            <a:endParaRPr sz="22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77200" y="209550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诊断/RUL</a:t>
            </a:r>
            <a:endParaRPr sz="12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82100" y="1581150"/>
            <a:ext cx="2476500" cy="9144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353550" y="173355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</a:t>
            </a:r>
            <a:endParaRPr sz="120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353550" y="1981200"/>
            <a:ext cx="1657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25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风电场</a:t>
            </a:r>
            <a:endParaRPr sz="225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934700" y="209550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运维闭环</a:t>
            </a:r>
            <a:endParaRPr sz="12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323850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09650" y="3162300"/>
            <a:ext cx="9582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齿轮箱运行工况复杂，温度、振动、润滑状态与负载扰动相互耦合。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81050" y="379095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09650" y="3714750"/>
            <a:ext cx="9582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传统人工巡检依赖经验，难以及时捕捉早期异常和趋势性劣化。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81050" y="434340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09650" y="4267200"/>
            <a:ext cx="9582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构建面向 SL1500 的健康管理系统，可支撑故障预警、诊断分析与维护决策。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研究内容</a:t>
            </a:r>
            <a:endParaRPr sz="12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66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研究目标：形成从数据到决策的完整健康管理闭环</a:t>
            </a:r>
            <a:endParaRPr sz="25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14350" y="1714500"/>
            <a:ext cx="2095500" cy="142875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1885950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实时监测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2228850"/>
            <a:ext cx="17907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采集温度、振动、油液、功率等运行状态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47950" y="2409825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781300" y="1714500"/>
            <a:ext cx="2095500" cy="142875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933700" y="1885950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特征提取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33700" y="2228850"/>
            <a:ext cx="17907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RMS、峰值、峭度、趋势斜率、油液 NAS 等指标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14900" y="2409825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048250" y="1714500"/>
            <a:ext cx="2095500" cy="142875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200650" y="1885950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健康评估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200650" y="2228850"/>
            <a:ext cx="17907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多阈值融合，输出健康评分、告警等级和剩余寿命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181850" y="2409825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315200" y="1714500"/>
            <a:ext cx="2095500" cy="142875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67600" y="1885950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故障处置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67600" y="2228850"/>
            <a:ext cx="17907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故障代码、处置建议、记录归档、闭环完成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448800" y="2409825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582150" y="1714500"/>
            <a:ext cx="2095500" cy="142875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734550" y="1885950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智能问答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734550" y="2228850"/>
            <a:ext cx="17907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结合实时状态与大模型生成运维建议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3857625"/>
            <a:ext cx="10287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10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本课题不是单一算法演示，而是面向工程使用的原型系统：强调数据融合、功能闭环和可视化交互。</a:t>
            </a:r>
            <a:endParaRPr sz="210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81050" y="506730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09650" y="4991100"/>
            <a:ext cx="9772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系统已覆盖登录、总览、趋势、阈值、报警、报告、故障记录、HMI 与智能助手等核心页面。</a:t>
            </a:r>
            <a:endParaRPr sz="15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系统架构</a:t>
            </a:r>
            <a:endParaRPr sz="12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66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总体架构：Flask 后端驱动多源数据、诊断模型与前端可视化</a:t>
            </a:r>
            <a:endParaRPr sz="25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1524000"/>
            <a:ext cx="2633663" cy="1285875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1695450"/>
            <a:ext cx="232886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2038350"/>
            <a:ext cx="2328863" cy="676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风机实时数据、故障统计、SQLite、系统配置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224213" y="2147888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357563" y="1524000"/>
            <a:ext cx="2633663" cy="1285875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509963" y="1695450"/>
            <a:ext cx="232886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服务层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09963" y="2038350"/>
            <a:ext cx="2328863" cy="676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数据仓库、采集仿真、诊断模型、RAG/LLM 服务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29325" y="2147888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162675" y="1524000"/>
            <a:ext cx="2633663" cy="1285875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15075" y="1695450"/>
            <a:ext cx="232886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接口层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15075" y="2038350"/>
            <a:ext cx="2328863" cy="676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 API、SSE 流式推送、权限认证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834438" y="2147888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967788" y="1524000"/>
            <a:ext cx="2633663" cy="1285875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120188" y="1695450"/>
            <a:ext cx="232886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展示层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120188" y="2038350"/>
            <a:ext cx="2328863" cy="676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ECharts、Three.js、HMI、移动适配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3238500"/>
            <a:ext cx="5029200" cy="245745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579" y="3276600"/>
            <a:ext cx="4082143" cy="2381250"/>
          </a:xfrm>
          <a:prstGeom prst="rect">
            <a:avLst/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914400" y="537210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系统功能架构图</a:t>
            </a:r>
            <a:endParaRPr sz="10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381750" y="3238500"/>
            <a:ext cx="5029200" cy="245745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980" y="3276600"/>
            <a:ext cx="4130740" cy="238125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6515100" y="537210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健康管理流程图</a:t>
            </a:r>
            <a:endParaRPr sz="10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数据与指标</a:t>
            </a:r>
            <a:endParaRPr sz="12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66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数据融合：把 SCADA、CMS、油液与故障记录统一到同一机组上下文</a:t>
            </a:r>
            <a:endParaRPr sz="25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1476375"/>
            <a:ext cx="2614613" cy="121920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1647825"/>
            <a:ext cx="230981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SCADA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1990725"/>
            <a:ext cx="2309813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功率、转速、环境温度、机组状态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262313" y="2066925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395663" y="1476375"/>
            <a:ext cx="2614613" cy="12192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548063" y="1647825"/>
            <a:ext cx="230981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CMS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48063" y="1990725"/>
            <a:ext cx="2309813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高速轴/齿轮箱振动 RMS、峰值与趋势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48375" y="2066925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181725" y="1476375"/>
            <a:ext cx="2614613" cy="121920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34125" y="1647825"/>
            <a:ext cx="230981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油液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34125" y="1990725"/>
            <a:ext cx="2309813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NAS 清洁度、润滑状态、污染等级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834438" y="2066925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967788" y="1476375"/>
            <a:ext cx="2614613" cy="12192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120188" y="1647825"/>
            <a:ext cx="230981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120188" y="1990725"/>
            <a:ext cx="2309813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故障代码、发生时间、严重程度、处理状态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95350" y="3925549"/>
            <a:ext cx="773430" cy="1217951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19150" y="5257800"/>
            <a:ext cx="92583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油箱</a:t>
            </a:r>
            <a:endParaRPr sz="97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19150" y="3696949"/>
            <a:ext cx="92583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endParaRPr sz="10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821180" y="3855283"/>
            <a:ext cx="773430" cy="1288217"/>
          </a:xfrm>
          <a:prstGeom prst="rect">
            <a:avLst/>
          </a:prstGeom>
          <a:solidFill>
            <a:srgbClr val="34D39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744980" y="5257800"/>
            <a:ext cx="92583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轴承</a:t>
            </a:r>
            <a:endParaRPr sz="97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744980" y="3626683"/>
            <a:ext cx="92583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</a:t>
            </a:r>
            <a:endParaRPr sz="10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747010" y="3738172"/>
            <a:ext cx="773430" cy="1405328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670810" y="5257800"/>
            <a:ext cx="92583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发电机</a:t>
            </a:r>
            <a:endParaRPr sz="97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670810" y="3509572"/>
            <a:ext cx="92583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endParaRPr sz="10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672840" y="3902127"/>
            <a:ext cx="773430" cy="1241373"/>
          </a:xfrm>
          <a:prstGeom prst="rect">
            <a:avLst/>
          </a:prstGeom>
          <a:solidFill>
            <a:srgbClr val="34D39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596640" y="5257800"/>
            <a:ext cx="92583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低速轴</a:t>
            </a:r>
            <a:endParaRPr sz="97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596640" y="3673527"/>
            <a:ext cx="92583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</a:t>
            </a:r>
            <a:endParaRPr sz="10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598670" y="3714750"/>
            <a:ext cx="773430" cy="14287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522470" y="5257800"/>
            <a:ext cx="92583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高速轴</a:t>
            </a:r>
            <a:endParaRPr sz="97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522470" y="3486150"/>
            <a:ext cx="92583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</a:t>
            </a:r>
            <a:endParaRPr sz="10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14400" y="32575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温度指标示例 / °C</a:t>
            </a:r>
            <a:endParaRPr sz="135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591300" y="3352800"/>
            <a:ext cx="4286250" cy="1714500"/>
          </a:xfrm>
          <a:prstGeom prst="rect">
            <a:avLst/>
          </a:prstGeom>
          <a:solidFill>
            <a:srgbClr val="0E192B"/>
          </a:solidFill>
          <a:ln w="9525">
            <a:solidFill>
              <a:srgbClr val="1E385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591300" y="3781425"/>
            <a:ext cx="4286250" cy="11430"/>
          </a:xfrm>
          <a:prstGeom prst="rect">
            <a:avLst/>
          </a:prstGeom>
          <a:solidFill>
            <a:srgbClr val="22344F"/>
          </a:solidFill>
          <a:ln w="9525">
            <a:solidFill>
              <a:srgbClr val="22344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591300" y="4210050"/>
            <a:ext cx="4286250" cy="11430"/>
          </a:xfrm>
          <a:prstGeom prst="rect">
            <a:avLst/>
          </a:prstGeom>
          <a:solidFill>
            <a:srgbClr val="22344F"/>
          </a:solidFill>
          <a:ln w="9525">
            <a:solidFill>
              <a:srgbClr val="22344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591300" y="4638675"/>
            <a:ext cx="4286250" cy="11430"/>
          </a:xfrm>
          <a:prstGeom prst="rect">
            <a:avLst/>
          </a:prstGeom>
          <a:solidFill>
            <a:srgbClr val="22344F"/>
          </a:solidFill>
          <a:ln w="9525">
            <a:solidFill>
              <a:srgbClr val="22344F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 rot="-1209366">
            <a:off x="6591300" y="4953000"/>
            <a:ext cx="507320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 rot="-2865408">
            <a:off x="7067550" y="4778188"/>
            <a:ext cx="708411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 rot="-1730200">
            <a:off x="7543800" y="4253753"/>
            <a:ext cx="543665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 rot="-1730200">
            <a:off x="8020050" y="3991535"/>
            <a:ext cx="543665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 rot="2176983">
            <a:off x="8496300" y="3729318"/>
            <a:ext cx="590805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 rot="-2865408">
            <a:off x="8972550" y="4078941"/>
            <a:ext cx="708411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 rot="1730200">
            <a:off x="9448800" y="3554506"/>
            <a:ext cx="543665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 rot="-2176983">
            <a:off x="9925050" y="3816724"/>
            <a:ext cx="590805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 rot="1209366">
            <a:off x="10401300" y="3467100"/>
            <a:ext cx="507320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553200" y="4914900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029450" y="4740088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7505700" y="4215653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7981950" y="3953435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458200" y="3691218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8934450" y="4040841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9410700" y="3516406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9886950" y="3778624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10363200" y="3429000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10839450" y="3603812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6591300" y="29908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振动趋势示例 / mm/s</a:t>
            </a:r>
            <a:endParaRPr sz="135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模型设计</a:t>
            </a:r>
            <a:endParaRPr sz="12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66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健康评估：用可解释阈值与评分图支撑运维判断</a:t>
            </a:r>
            <a:endParaRPr sz="25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524000"/>
            <a:ext cx="2381250" cy="9144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16764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健康评分</a:t>
            </a:r>
            <a:endParaRPr sz="120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1924050"/>
            <a:ext cx="1562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25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</a:t>
            </a:r>
            <a:endParaRPr sz="2250" b="1">
              <a:solidFill>
                <a:srgbClr val="34D3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43150" y="20383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/100</a:t>
            </a:r>
            <a:endParaRPr sz="12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0" y="1524000"/>
            <a:ext cx="2381250" cy="9144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600450" y="16764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振动 RMS</a:t>
            </a:r>
            <a:endParaRPr sz="120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00450" y="1924050"/>
            <a:ext cx="1562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2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5.51</a:t>
            </a:r>
            <a:endParaRPr sz="22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086350" y="20383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mm/s</a:t>
            </a:r>
            <a:endParaRPr sz="12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172200" y="1524000"/>
            <a:ext cx="2381250" cy="9144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43650" y="16764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RUL</a:t>
            </a:r>
            <a:endParaRPr sz="120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43650" y="1924050"/>
            <a:ext cx="1562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25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194</a:t>
            </a:r>
            <a:endParaRPr sz="2250" b="1">
              <a:solidFill>
                <a:srgbClr val="34D3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29550" y="20383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</a:t>
            </a:r>
            <a:endParaRPr sz="12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15400" y="1524000"/>
            <a:ext cx="2381250" cy="9144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086850" y="16764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告警等级</a:t>
            </a:r>
            <a:endParaRPr sz="120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86850" y="1924050"/>
            <a:ext cx="1562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250" b="1">
                <a:solidFill>
                  <a:srgbClr val="FB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B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P1/P2</a:t>
            </a:r>
            <a:endParaRPr sz="2250" b="1">
              <a:solidFill>
                <a:srgbClr val="FB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572750" y="20383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处置</a:t>
            </a:r>
            <a:endParaRPr sz="12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47750" y="3733800"/>
            <a:ext cx="885825" cy="1390650"/>
          </a:xfrm>
          <a:prstGeom prst="rect">
            <a:avLst/>
          </a:prstGeom>
          <a:solidFill>
            <a:srgbClr val="34D39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71550" y="5238750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</a:t>
            </a:r>
            <a:endParaRPr sz="97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71550" y="3505200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</a:t>
            </a:r>
            <a:endParaRPr sz="10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085975" y="3918103"/>
            <a:ext cx="885825" cy="1206347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009775" y="5238750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振动</a:t>
            </a:r>
            <a:endParaRPr sz="97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009775" y="3689503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</a:t>
            </a:r>
            <a:endParaRPr sz="10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124200" y="3985122"/>
            <a:ext cx="885825" cy="1139328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3048000" y="5238750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油液</a:t>
            </a:r>
            <a:endParaRPr sz="97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048000" y="3756522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</a:t>
            </a:r>
            <a:endParaRPr sz="10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162425" y="3817574"/>
            <a:ext cx="885825" cy="1306876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086225" y="5238750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RUL</a:t>
            </a:r>
            <a:endParaRPr sz="97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086225" y="3588974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</a:t>
            </a:r>
            <a:endParaRPr sz="10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096000" y="3552825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324600" y="3476625"/>
            <a:ext cx="4629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阈值分为关注与临界两级，支持前端点击修改并写入系统配置。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096000" y="4029075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324600" y="3952875"/>
            <a:ext cx="4629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评分与图形按同一数据源计算，避免界面展示与后端状态不一致。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096000" y="4505325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324600" y="4429125"/>
            <a:ext cx="4629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RUL、历史故障频次与当前振动趋势共同决定复检周期和处理优先级。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故障闭环</a:t>
            </a:r>
            <a:endParaRPr sz="12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66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故障诊断：从异常识别到工单闭环，形成可追溯处置链</a:t>
            </a:r>
            <a:endParaRPr sz="25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1504950"/>
            <a:ext cx="2566988" cy="125730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1676400"/>
            <a:ext cx="2262188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019300"/>
            <a:ext cx="2262188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温度、振动、油液或停机事件超过阈值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09938" y="2114550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443288" y="1504950"/>
            <a:ext cx="2566988" cy="12573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595688" y="1676400"/>
            <a:ext cx="2262188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95688" y="2019300"/>
            <a:ext cx="2262188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故障类型、严重程度、故障代码、发生机组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48375" y="2114550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181725" y="1504950"/>
            <a:ext cx="2566988" cy="125730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34125" y="1676400"/>
            <a:ext cx="2262188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34125" y="2019300"/>
            <a:ext cx="2262188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生成复核、检修、归档与优先级策略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86813" y="2114550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920163" y="1504950"/>
            <a:ext cx="2566988" cy="12573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072563" y="1676400"/>
            <a:ext cx="2262188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72563" y="2019300"/>
            <a:ext cx="2262188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记录处理人、措施、结果和闭环时间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3257550"/>
            <a:ext cx="4838700" cy="21717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3295650"/>
            <a:ext cx="3352800" cy="2095500"/>
          </a:xfrm>
          <a:prstGeom prst="rect">
            <a:avLst/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914400" y="5105400"/>
            <a:ext cx="457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故障代码与处置策略</a:t>
            </a:r>
            <a:endParaRPr sz="10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496050" y="3257550"/>
            <a:ext cx="4838700" cy="21717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3295650"/>
            <a:ext cx="3352800" cy="209550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6629400" y="5105400"/>
            <a:ext cx="457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阈值设置与告警联动</a:t>
            </a:r>
            <a:endParaRPr sz="10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系统功能展示</a:t>
            </a:r>
            <a:endParaRPr sz="12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66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前端实现：从风场总览进入单机组健康详情</a:t>
            </a:r>
            <a:endParaRPr sz="25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76250" y="1466850"/>
            <a:ext cx="5257800" cy="3076575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" y="1504950"/>
            <a:ext cx="4800600" cy="3000375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609600" y="4219575"/>
            <a:ext cx="4991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风场健康总览</a:t>
            </a:r>
            <a:endParaRPr sz="10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57950" y="1466850"/>
            <a:ext cx="5257800" cy="3076575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1504950"/>
            <a:ext cx="4800600" cy="3000375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6591300" y="4219575"/>
            <a:ext cx="4991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机组运行总览</a:t>
            </a:r>
            <a:endParaRPr sz="10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5095875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页面结构经过多轮优化：横向菜单承载状态页面，避免信息挤在同一区域；关键告警与健康指标常驻显示。</a:t>
            </a:r>
            <a:endParaRPr sz="15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趋势分析</a:t>
            </a:r>
            <a:endParaRPr sz="12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66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实时趋势页面：按分析任务拆分菜单，并增加折线与柱状视图</a:t>
            </a:r>
            <a:endParaRPr sz="25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466850"/>
            <a:ext cx="5981700" cy="3552825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1504950"/>
            <a:ext cx="5562600" cy="3476625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704850" y="4695825"/>
            <a:ext cx="571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振动波形与趋势分析</a:t>
            </a:r>
            <a:endParaRPr sz="10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086600" y="1619250"/>
            <a:ext cx="3810000" cy="14478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315200" y="18478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8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横向菜单设计</a:t>
            </a:r>
            <a:endParaRPr sz="18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72350" y="243840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00950" y="236220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运行概览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372350" y="276225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600950" y="26860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振动趋势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372350" y="308610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600950" y="300990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孪生与采集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372350" y="340995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00950" y="33337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故障统计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124700" y="3638550"/>
            <a:ext cx="3905250" cy="1381125"/>
          </a:xfrm>
          <a:prstGeom prst="rect">
            <a:avLst/>
          </a:prstGeom>
          <a:solidFill>
            <a:srgbClr val="0E192B"/>
          </a:solidFill>
          <a:ln w="9525">
            <a:solidFill>
              <a:srgbClr val="1E385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124700" y="3983831"/>
            <a:ext cx="3905250" cy="11430"/>
          </a:xfrm>
          <a:prstGeom prst="rect">
            <a:avLst/>
          </a:prstGeom>
          <a:solidFill>
            <a:srgbClr val="22344F"/>
          </a:solidFill>
          <a:ln w="9525">
            <a:solidFill>
              <a:srgbClr val="22344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124700" y="4329113"/>
            <a:ext cx="3905250" cy="11430"/>
          </a:xfrm>
          <a:prstGeom prst="rect">
            <a:avLst/>
          </a:prstGeom>
          <a:solidFill>
            <a:srgbClr val="22344F"/>
          </a:solidFill>
          <a:ln w="9525">
            <a:solidFill>
              <a:srgbClr val="22344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124700" y="4674394"/>
            <a:ext cx="3905250" cy="11430"/>
          </a:xfrm>
          <a:prstGeom prst="rect">
            <a:avLst/>
          </a:prstGeom>
          <a:solidFill>
            <a:srgbClr val="22344F"/>
          </a:solidFill>
          <a:ln w="9525">
            <a:solidFill>
              <a:srgbClr val="22344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 rot="-986549">
            <a:off x="7124700" y="4905375"/>
            <a:ext cx="581681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 rot="-986549">
            <a:off x="7682593" y="4740729"/>
            <a:ext cx="581681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 rot="-2628324">
            <a:off x="8240486" y="4576082"/>
            <a:ext cx="773031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 rot="-748843">
            <a:off x="8798379" y="4040981"/>
            <a:ext cx="571396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 rot="503643">
            <a:off x="9356271" y="3917496"/>
            <a:ext cx="563934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 rot="-1432689">
            <a:off x="9914164" y="3999820"/>
            <a:ext cx="610113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 rot="748843">
            <a:off x="10472057" y="3752850"/>
            <a:ext cx="571396" cy="28575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086600" y="4867275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644493" y="4702629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202386" y="4537982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760279" y="4002881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318171" y="3879396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876064" y="3961720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0433957" y="3714750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0991850" y="3838235"/>
            <a:ext cx="76200" cy="762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人机交互</a:t>
            </a:r>
            <a:endParaRPr sz="12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66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HMI 运维控制台：把阈值、告警和故障代码收敛到人机交互界面</a:t>
            </a:r>
            <a:endParaRPr sz="25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76250" y="1466850"/>
            <a:ext cx="5172075" cy="321945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688" y="1504950"/>
            <a:ext cx="5029200" cy="314325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609600" y="4362450"/>
            <a:ext cx="4905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HMI 运维总览</a:t>
            </a:r>
            <a:endParaRPr sz="10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305550" y="1466850"/>
            <a:ext cx="2457450" cy="321945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0" y="2332434"/>
            <a:ext cx="2381250" cy="1488281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6438900" y="436245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运维登录</a:t>
            </a:r>
            <a:endParaRPr sz="10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972550" y="1466850"/>
            <a:ext cx="2457450" cy="321945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0" y="2332434"/>
            <a:ext cx="2381250" cy="1488281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9105900" y="436245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阈值管理</a:t>
            </a:r>
            <a:endParaRPr sz="10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521970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6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核心优化：纵向菜单、回退按钮、告警常驻板块、阈值可编辑、故障处理闭环。</a:t>
            </a:r>
            <a:endParaRPr sz="16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AI 辅助决策</a:t>
            </a:r>
            <a:endParaRPr sz="12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66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智能运维助手：模型优先回答，实时上下文约束结论</a:t>
            </a:r>
            <a:endParaRPr sz="25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1447800"/>
            <a:ext cx="5124450" cy="321945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545180"/>
            <a:ext cx="5048250" cy="302469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685800" y="4343400"/>
            <a:ext cx="485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智能运维诊断助手</a:t>
            </a:r>
            <a:endParaRPr sz="10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72200" y="1657350"/>
            <a:ext cx="1536700" cy="104775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324600" y="1828800"/>
            <a:ext cx="1231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机组上下文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24600" y="2171700"/>
            <a:ext cx="1231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当前机组、油温、振动、油液、健康评分、功率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747000" y="2162175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880350" y="1657350"/>
            <a:ext cx="1536700" cy="104775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032750" y="1828800"/>
            <a:ext cx="1231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问题理解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32750" y="2171700"/>
            <a:ext cx="1231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用户自然语言提问，自动拼接实时运行状态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455150" y="2162175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588500" y="1657350"/>
            <a:ext cx="1536700" cy="104775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740900" y="1828800"/>
            <a:ext cx="1231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流式输出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740900" y="2171700"/>
            <a:ext cx="1231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SSE delta 逐字返回，提升交互反馈速度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0" y="346710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515100" y="3390900"/>
            <a:ext cx="4533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可在不完全依赖知识库的情况下调用大模型生成诊断建议。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86500" y="392430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515100" y="3848100"/>
            <a:ext cx="4533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保留知识库与实时数据作为约束，减少泛化回答和无依据结论。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286500" y="438150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515100" y="4305300"/>
            <a:ext cx="4533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回答区域改为工作台式布局，避免中间内容过长影响两侧信息读取。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工程实现</a:t>
            </a:r>
            <a:endParaRPr sz="12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66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关键后端实现：REST 接口、SSE 推送与配置持久化共同支撑页面交互</a:t>
            </a:r>
            <a:endParaRPr sz="25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600200"/>
            <a:ext cx="2633663" cy="125730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1771650"/>
            <a:ext cx="232886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Flask App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2114550"/>
            <a:ext cx="232886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统一注册 auth/data/report/qa/settings/windfarm/ops 路由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243263" y="2209800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376613" y="1600200"/>
            <a:ext cx="2633663" cy="12573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529013" y="1771650"/>
            <a:ext cx="232886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SQLAlchemy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29013" y="2114550"/>
            <a:ext cx="232886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FaultRecord、FaultClosure、SystemConfig、User 等模型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48375" y="2209800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181725" y="1600200"/>
            <a:ext cx="2633663" cy="125730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34125" y="1771650"/>
            <a:ext cx="232886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SSE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34125" y="2114550"/>
            <a:ext cx="232886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实时数据与 QA 流式回答按事件持续推送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853488" y="2209800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986838" y="1600200"/>
            <a:ext cx="2633663" cy="12573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139238" y="1771650"/>
            <a:ext cx="2328863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服务模块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139238" y="2114550"/>
            <a:ext cx="2328863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wind_data_repository、ml_models、rag_service、data_acquisition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00100" y="3619500"/>
            <a:ext cx="2286000" cy="9144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71550" y="3771900"/>
            <a:ext cx="1943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主要接口</a:t>
            </a:r>
            <a:endParaRPr sz="120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1550" y="4019550"/>
            <a:ext cx="1466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25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225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362200" y="4133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类路由</a:t>
            </a:r>
            <a:endParaRPr sz="12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562350" y="3619500"/>
            <a:ext cx="2286000" cy="9144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733800" y="3771900"/>
            <a:ext cx="1943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数据文件</a:t>
            </a:r>
            <a:endParaRPr sz="120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733800" y="4019550"/>
            <a:ext cx="1466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25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20+</a:t>
            </a:r>
            <a:endParaRPr sz="2250" b="1">
              <a:solidFill>
                <a:srgbClr val="34D3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124450" y="4133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xls/json</a:t>
            </a:r>
            <a:endParaRPr sz="12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324600" y="3619500"/>
            <a:ext cx="2286000" cy="9144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496050" y="3771900"/>
            <a:ext cx="1943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前端页面</a:t>
            </a:r>
            <a:endParaRPr sz="120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496050" y="4019550"/>
            <a:ext cx="1466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25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8+</a:t>
            </a:r>
            <a:endParaRPr sz="225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886700" y="4133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核心视图</a:t>
            </a:r>
            <a:endParaRPr sz="12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086850" y="3619500"/>
            <a:ext cx="2286000" cy="9144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258300" y="3771900"/>
            <a:ext cx="1943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闭环状态</a:t>
            </a:r>
            <a:endParaRPr sz="1200" b="1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258300" y="4019550"/>
            <a:ext cx="1466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2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待处理</a:t>
            </a:r>
            <a:endParaRPr sz="22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648950" y="4133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可完成</a:t>
            </a:r>
            <a:endParaRPr sz="12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测试验证</a:t>
            </a:r>
            <a:endParaRPr sz="12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66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测试与运行效果：系统可完整演示健康监测、告警处置和智能问答</a:t>
            </a:r>
            <a:endParaRPr sz="25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2190750"/>
            <a:ext cx="885825" cy="2000250"/>
          </a:xfrm>
          <a:prstGeom prst="rect">
            <a:avLst/>
          </a:prstGeom>
          <a:solidFill>
            <a:srgbClr val="34D39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4305300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endParaRPr sz="97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1962150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</a:t>
            </a:r>
            <a:endParaRPr sz="10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914525" y="2251364"/>
            <a:ext cx="885825" cy="1939636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838325" y="4305300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</a:t>
            </a:r>
            <a:endParaRPr sz="97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38325" y="2022764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</a:t>
            </a:r>
            <a:endParaRPr sz="10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52750" y="2332182"/>
            <a:ext cx="885825" cy="1858818"/>
          </a:xfrm>
          <a:prstGeom prst="rect">
            <a:avLst/>
          </a:prstGeom>
          <a:solidFill>
            <a:srgbClr val="2F7DF6"/>
          </a:solidFill>
          <a:ln w="9525">
            <a:solidFill>
              <a:srgbClr val="2F7DF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876550" y="4305300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告警</a:t>
            </a:r>
            <a:endParaRPr sz="97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76550" y="2103582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</a:t>
            </a:r>
            <a:endParaRPr sz="10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90975" y="2413000"/>
            <a:ext cx="885825" cy="17780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914775" y="4305300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问答</a:t>
            </a:r>
            <a:endParaRPr sz="97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914775" y="2184400"/>
            <a:ext cx="1038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</a:t>
            </a:r>
            <a:endParaRPr sz="10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171450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65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功能验证覆盖率示意</a:t>
            </a:r>
            <a:endParaRPr sz="165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19800" y="207645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248400" y="2000250"/>
            <a:ext cx="4724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前端页面：登录、风场总览、实时趋势、HMI、故障代码、健康报告、助手页面。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19800" y="257175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248400" y="2495550"/>
            <a:ext cx="4724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后端接口：健康检查、数据读取、阈值配置、故障完成、QA 普通与流式接口。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19800" y="306705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248400" y="2990850"/>
            <a:ext cx="4724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展示效果：图表数据一致、告警弹出/常驻逻辑清晰、处理状态可追踪。</a:t>
            </a:r>
            <a:endParaRPr sz="1500" b="0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95350" y="5095875"/>
            <a:ext cx="1009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说明：当前系统为毕业设计工程原型，数据以真实文件样例与仿真采集结合，预留真实 SCADA/CMS 接入位置。</a:t>
            </a:r>
            <a:endParaRPr sz="135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总结分析</a:t>
            </a:r>
            <a:endParaRPr sz="12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66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创新点与不足：系统闭环完整，后续可继续增强模型泛化能力</a:t>
            </a:r>
            <a:endParaRPr sz="255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1600200"/>
            <a:ext cx="3498850" cy="121920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1771650"/>
            <a:ext cx="3194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创新点一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2114550"/>
            <a:ext cx="3194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 SL1500 齿轮箱建立多源状态融合与健康评分展示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127500" y="2190750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260850" y="1600200"/>
            <a:ext cx="3498850" cy="12192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413250" y="1771650"/>
            <a:ext cx="3194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创新点二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13250" y="2114550"/>
            <a:ext cx="3194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把告警阈值、故障代码、处理完成和 HMI 交互放入同一运维闭环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797800" y="2190750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931150" y="1600200"/>
            <a:ext cx="3498850" cy="121920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83550" y="1771650"/>
            <a:ext cx="3194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创新点三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83550" y="2114550"/>
            <a:ext cx="3194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引入模型优先的智能助手与真实流式输出，提升问答体验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3562350"/>
            <a:ext cx="4914900" cy="185547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66800" y="37909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8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当前不足</a:t>
            </a:r>
            <a:endParaRPr sz="18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04900" y="434340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333500" y="4267200"/>
            <a:ext cx="3771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训练样本仍有限，复杂工况下模型泛化能力需进一步验证。</a:t>
            </a:r>
            <a:endParaRPr sz="15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04900" y="470535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333500" y="4838700"/>
            <a:ext cx="3771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与真实风电场系统仍需做通信协议、权限和安全加固。</a:t>
            </a:r>
            <a:endParaRPr sz="15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572250" y="3562350"/>
            <a:ext cx="4857750" cy="1797685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819900" y="37909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80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后续方向</a:t>
            </a:r>
            <a:endParaRPr sz="1800" b="1">
              <a:solidFill>
                <a:srgbClr val="34D3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58000" y="434340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086600" y="4267200"/>
            <a:ext cx="3771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接入真实 SCADA/CMS 数据流，完善在线模型更新。</a:t>
            </a:r>
            <a:endParaRPr sz="15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58000" y="4705350"/>
            <a:ext cx="95250" cy="952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086600" y="4781550"/>
            <a:ext cx="3771900" cy="5353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引入更多历史工单，提升故障模式识别与处置推荐准确性。</a:t>
            </a:r>
            <a:endParaRPr sz="15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6"/>
          </a:solidFill>
          <a:ln w="9525">
            <a:solidFill>
              <a:srgbClr val="0B1426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8101F"/>
          </a:solidFill>
          <a:ln w="9525">
            <a:solidFill>
              <a:srgbClr val="08101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63627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结语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286500"/>
            <a:ext cx="47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r">
              <a:def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5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876300"/>
            <a:ext cx="476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330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</a:t>
            </a:r>
            <a:endParaRPr sz="330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790700"/>
            <a:ext cx="10096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10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EEF6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本设计完成了一个面向风机齿轮箱的智能健康管理原型系统，贯通数据采集、状态评估、故障诊断、处置闭环和智能问答。</a:t>
            </a:r>
            <a:endParaRPr sz="2100" b="1">
              <a:solidFill>
                <a:srgbClr val="EEF6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3238500"/>
            <a:ext cx="3314700" cy="129540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409950"/>
            <a:ext cx="3009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工程价值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752850"/>
            <a:ext cx="3009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降低早期异常漏判风险，辅助运维人员快速定位问题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38600" y="3867150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171950" y="3238500"/>
            <a:ext cx="3314700" cy="1295400"/>
          </a:xfrm>
          <a:prstGeom prst="rect">
            <a:avLst/>
          </a:prstGeom>
          <a:solidFill>
            <a:srgbClr val="17263D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324350" y="3409950"/>
            <a:ext cx="3009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应用价值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324350" y="3752850"/>
            <a:ext cx="3009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可扩展到同类双馈风机齿轮箱状态监测场景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524750" y="3867150"/>
            <a:ext cx="95250" cy="38100"/>
          </a:xfrm>
          <a:prstGeom prst="rect">
            <a:avLst/>
          </a:prstGeom>
          <a:solidFill>
            <a:srgbClr val="59D7FF"/>
          </a:solidFill>
          <a:ln w="9525">
            <a:solidFill>
              <a:srgbClr val="59D7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658100" y="3238500"/>
            <a:ext cx="3314700" cy="1295400"/>
          </a:xfrm>
          <a:prstGeom prst="rect">
            <a:avLst/>
          </a:prstGeom>
          <a:solidFill>
            <a:srgbClr val="111D31"/>
          </a:solidFill>
          <a:ln w="9525">
            <a:solidFill>
              <a:srgbClr val="24507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0" y="3409950"/>
            <a:ext cx="3009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研究价值</a:t>
            </a:r>
            <a:endParaRPr sz="1425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0" y="3752850"/>
            <a:ext cx="30099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为健康评估、RUL 预测和大模型运维助手提供实验平台</a:t>
            </a:r>
            <a:endParaRPr sz="1125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5334000"/>
            <a:ext cx="495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defRPr sz="24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59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恳请各位老师批评指正</a:t>
            </a:r>
            <a:endParaRPr sz="2400" b="1">
              <a:solidFill>
                <a:srgbClr val="59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2626</Words>
  <Application>WPS 演示</Application>
  <PresentationFormat>Converted Presentation</PresentationFormat>
  <Paragraphs>466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。。。。</cp:lastModifiedBy>
  <cp:revision>1</cp:revision>
  <dcterms:created xsi:type="dcterms:W3CDTF">2026-06-09T08:31:26Z</dcterms:created>
  <dcterms:modified xsi:type="dcterms:W3CDTF">2026-06-09T08:31:26Z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7FAAFB1C82044D0986BD98ED8BB26E12_12</vt:lpwstr>
  </property>
  <property fmtid="{D5CDD505-2E9C-101B-9397-08002B2CF9AE}" pid="3" name="KSOProductBuildVer">
    <vt:lpwstr>2052-12.1.0.26895</vt:lpwstr>
  </property>
</Properties>
</file>